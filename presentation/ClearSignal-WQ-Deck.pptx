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operator problem: unusual sensor values do not explain what happened. ClearSignal WQ organizes the evidence before anyone escalates.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identical-looking anomalies can require different operational responses. The product is designed around this triage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from validation through human action. Emphasize that there is one production path and the interface does not change model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the three-column workflow: event queue, sensor timeline, and evidence with the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the same interface produces different operational responses from different evidence patterns. Synthetic labels remain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 about model selection and limitations. ARIMA missed the preregistered recall gate. The selected rule model still has a high false-alert burden.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responsible deployment path. The next meaningful step is a small field pilot with maintenance context and independent 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379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8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ClearSignal WQ  |  Qizhong Deng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881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881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B78"/>
          </a:solidFill>
          <a:ln w="12700">
            <a:solidFill>
              <a:srgbClr val="087B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583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2D0C7"/>
                </a:solidFill>
              </a:rPr>
              <a:t>CLEARSIGNAL WQ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09728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before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escalation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78892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D7"/>
                </a:solidFill>
              </a:rPr>
              <a:t>Explainable AI triage for water sensor events, drift, and data-integrity failures.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263139"/>
          </a:solidFill>
          <a:ln w="12700">
            <a:solidFill>
              <a:srgbClr val="2631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4050792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2D0C7"/>
                </a:solidFill>
              </a:rPr>
              <a:t>OPERATOR REVIEW REQUIRED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61447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7C2"/>
                </a:solidFill>
              </a:rPr>
              <a:t>Qizhong Deng  |  Xylem Global Student Innovation Challenge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184648" y="539496"/>
            <a:ext cx="6501384" cy="4087368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25400" dist="50800" dir="2700000">
              <a:srgbClr val="A7AFB8">
                <a:alpha val="20000"/>
              </a:srgbClr>
            </a:outerShdw>
          </a:effectLst>
        </p:spPr>
      </p:sp>
      <p:pic>
        <p:nvPicPr>
          <p:cNvPr id="10" name="Image 0" descr="/Users/dengxu/2026年秋季比赛项目/xylem-water-quality/presentation/assets/correlated-sh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566928"/>
            <a:ext cx="6446520" cy="403250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15000" y="4892040"/>
            <a:ext cx="5440680" cy="1143000"/>
          </a:xfrm>
          <a:prstGeom prst="roundRect">
            <a:avLst>
              <a:gd name="adj" fmla="val 4800"/>
            </a:avLst>
          </a:prstGeom>
          <a:solidFill>
            <a:srgbClr val="232932"/>
          </a:solidFill>
          <a:ln w="12700">
            <a:solidFill>
              <a:srgbClr val="343C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52303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Four outcomes. One review queue. Every decision keeps its evidence and next human action.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87B78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D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unusual signal can imply three different actions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80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27E"/>
                </a:solidFill>
              </a:rPr>
              <a:t>Small monitoring teams need a defensible next step, not another unexplained alert.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520440" cy="3154680"/>
          </a:xfrm>
          <a:prstGeom prst="roundRect">
            <a:avLst>
              <a:gd name="adj" fmla="val 1739"/>
            </a:avLst>
          </a:prstGeom>
          <a:solidFill>
            <a:srgbClr val="E5F4EE"/>
          </a:solidFill>
          <a:ln w="12700">
            <a:solidFill>
              <a:srgbClr val="E5F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74520"/>
            <a:ext cx="64008" cy="3154680"/>
          </a:xfrm>
          <a:prstGeom prst="rect">
            <a:avLst/>
          </a:prstGeom>
          <a:solidFill>
            <a:srgbClr val="0A8A61"/>
          </a:solidFill>
          <a:ln w="12700">
            <a:solidFill>
              <a:srgbClr val="0A8A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D24"/>
                </a:solidFill>
              </a:rPr>
              <a:t>Environmental change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87752"/>
            <a:ext cx="306324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9727E"/>
                </a:solidFill>
              </a:rPr>
              <a:t>Several reliable sensors move together. The operator should retest in the field and decide whether laboratory confirmation is justified.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1874520"/>
            <a:ext cx="3520440" cy="3154680"/>
          </a:xfrm>
          <a:prstGeom prst="roundRect">
            <a:avLst>
              <a:gd name="adj" fmla="val 1739"/>
            </a:avLst>
          </a:prstGeom>
          <a:solidFill>
            <a:srgbClr val="FFF2DE"/>
          </a:solidFill>
          <a:ln w="12700">
            <a:solidFill>
              <a:srgbClr val="FFF2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4256" y="1874520"/>
            <a:ext cx="64008" cy="3154680"/>
          </a:xfrm>
          <a:prstGeom prst="rect">
            <a:avLst/>
          </a:prstGeom>
          <a:solidFill>
            <a:srgbClr val="D28A22"/>
          </a:solidFill>
          <a:ln w="12700">
            <a:solidFill>
              <a:srgbClr val="D28A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210312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D24"/>
                </a:solidFill>
              </a:rPr>
              <a:t>Sensor drift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0288" y="2587752"/>
            <a:ext cx="306324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9727E"/>
                </a:solidFill>
              </a:rPr>
              <a:t>A single sensor changes while reliability falls. The right response is maintenance, calibration, and an independent measurement.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1584" y="1874520"/>
            <a:ext cx="3520440" cy="3154680"/>
          </a:xfrm>
          <a:prstGeom prst="roundRect">
            <a:avLst>
              <a:gd name="adj" fmla="val 1739"/>
            </a:avLst>
          </a:prstGeom>
          <a:solidFill>
            <a:srgbClr val="FCEAEC"/>
          </a:solidFill>
          <a:ln w="12700">
            <a:solidFill>
              <a:srgbClr val="FCEA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1584" y="1874520"/>
            <a:ext cx="64008" cy="3154680"/>
          </a:xfrm>
          <a:prstGeom prst="rect">
            <a:avLst/>
          </a:prstGeom>
          <a:solidFill>
            <a:srgbClr val="B72D3C"/>
          </a:solidFill>
          <a:ln w="12700">
            <a:solidFill>
              <a:srgbClr val="B72D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210312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D24"/>
                </a:solidFill>
              </a:rPr>
              <a:t>Data gap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57616" y="2587752"/>
            <a:ext cx="306324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9727E"/>
                </a:solidFill>
              </a:rPr>
              <a:t>Timestamps or telemetry fail. The operator should inspect the data link before treating missing information as a water event.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53766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D24"/>
                </a:solidFill>
              </a:rPr>
              <a:t>The cost of confusing them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88920" y="5376672"/>
            <a:ext cx="8732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27E"/>
                </a:solidFill>
              </a:rPr>
              <a:t>alert fatigue  |  avoidable field work  |  delayed maintenance  |  inconsistent escalation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881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2D0C7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deterministic path from readings to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1600200" cy="1965960"/>
          </a:xfrm>
          <a:prstGeom prst="roundRect">
            <a:avLst>
              <a:gd name="adj" fmla="val 2857"/>
            </a:avLst>
          </a:prstGeom>
          <a:solidFill>
            <a:srgbClr val="252C35"/>
          </a:solidFill>
          <a:ln w="12700">
            <a:solidFill>
              <a:srgbClr val="394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762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D0C7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6334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Validate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09067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7C2"/>
                </a:solidFill>
              </a:rPr>
              <a:t>timestamps, sensors, provenance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58568" y="2743200"/>
            <a:ext cx="164592" cy="347472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96312" y="1965960"/>
            <a:ext cx="1600200" cy="1965960"/>
          </a:xfrm>
          <a:prstGeom prst="roundRect">
            <a:avLst>
              <a:gd name="adj" fmla="val 2857"/>
            </a:avLst>
          </a:prstGeom>
          <a:solidFill>
            <a:srgbClr val="252C35"/>
          </a:solidFill>
          <a:ln w="12700">
            <a:solidFill>
              <a:srgbClr val="394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21762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D0C7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79192" y="26334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Detect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679192" y="309067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7C2"/>
                </a:solidFill>
              </a:rPr>
              <a:t>gaps, range, stuck, robust jumps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0520" y="2743200"/>
            <a:ext cx="164592" cy="347472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98264" y="1965960"/>
            <a:ext cx="1600200" cy="1965960"/>
          </a:xfrm>
          <a:prstGeom prst="roundRect">
            <a:avLst>
              <a:gd name="adj" fmla="val 2857"/>
            </a:avLst>
          </a:prstGeom>
          <a:solidFill>
            <a:srgbClr val="252C35"/>
          </a:solidFill>
          <a:ln w="12700">
            <a:solidFill>
              <a:srgbClr val="3942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81144" y="21762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D0C7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81144" y="26334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Group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81144" y="309067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7C2"/>
                </a:solidFill>
              </a:rPr>
              <a:t>stable event windows and IDs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62472" y="2743200"/>
            <a:ext cx="164592" cy="347472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0216" y="1965960"/>
            <a:ext cx="1600200" cy="1965960"/>
          </a:xfrm>
          <a:prstGeom prst="roundRect">
            <a:avLst>
              <a:gd name="adj" fmla="val 2857"/>
            </a:avLst>
          </a:prstGeom>
          <a:solidFill>
            <a:srgbClr val="252C35"/>
          </a:solidFill>
          <a:ln w="12700">
            <a:solidFill>
              <a:srgbClr val="3942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3096" y="21762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D0C7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83096" y="26334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Assess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83096" y="309067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7C2"/>
                </a:solidFill>
              </a:rPr>
              <a:t>reliability and corroboration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64424" y="2743200"/>
            <a:ext cx="164592" cy="347472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02168" y="1965960"/>
            <a:ext cx="1600200" cy="1965960"/>
          </a:xfrm>
          <a:prstGeom prst="roundRect">
            <a:avLst>
              <a:gd name="adj" fmla="val 2857"/>
            </a:avLst>
          </a:prstGeom>
          <a:solidFill>
            <a:srgbClr val="252C35"/>
          </a:solidFill>
          <a:ln w="12700">
            <a:solidFill>
              <a:srgbClr val="3942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5048" y="21762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D0C7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85048" y="26334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Triage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85048" y="309067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7C2"/>
                </a:solidFill>
              </a:rPr>
              <a:t>fixed priority and explanation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866376" y="2743200"/>
            <a:ext cx="164592" cy="347472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04120" y="1965960"/>
            <a:ext cx="1600200" cy="1965960"/>
          </a:xfrm>
          <a:prstGeom prst="roundRect">
            <a:avLst>
              <a:gd name="adj" fmla="val 2857"/>
            </a:avLst>
          </a:prstGeom>
          <a:solidFill>
            <a:srgbClr val="124B48"/>
          </a:solidFill>
          <a:ln w="12700">
            <a:solidFill>
              <a:srgbClr val="2D9A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87000" y="21762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D0C7"/>
                </a:solidFill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87000" y="26334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Act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287000" y="309067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7C2"/>
                </a:solidFill>
              </a:rPr>
              <a:t>retest, calibrate, inspect, escalate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4709160"/>
            <a:ext cx="11018520" cy="1143000"/>
          </a:xfrm>
          <a:prstGeom prst="roundRect">
            <a:avLst>
              <a:gd name="adj" fmla="val 4000"/>
            </a:avLst>
          </a:prstGeom>
          <a:solidFill>
            <a:srgbClr val="20262E"/>
          </a:solidFill>
          <a:ln w="12700">
            <a:solidFill>
              <a:srgbClr val="3942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50109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2D0C7"/>
                </a:solidFill>
              </a:rPr>
              <a:t>Why deterministic?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816352" y="50109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 same evidence always produces the same category, explanation, limitation, and human verification action.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816352" y="53949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7C2"/>
                </a:solidFill>
              </a:rPr>
              <a:t>The UI never recalculates thresholds or changes triage decisions.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87B78"/>
                </a:solidFill>
              </a:rPr>
              <a:t>THE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D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review workspace built for repeated operational decisions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80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27E"/>
                </a:solidFill>
              </a:rPr>
              <a:t>Queue the event, inspect the signal context, and record the next verification action.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9496" y="1801368"/>
            <a:ext cx="7690104" cy="4828032"/>
          </a:xfrm>
          <a:prstGeom prst="roundRect">
            <a:avLst>
              <a:gd name="adj" fmla="val 94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25400" dist="50800" dir="2700000">
              <a:srgbClr val="A7AFB8">
                <a:alpha val="20000"/>
              </a:srgbClr>
            </a:outerShdw>
          </a:effectLst>
        </p:spPr>
      </p:sp>
      <p:pic>
        <p:nvPicPr>
          <p:cNvPr id="6" name="Image 0" descr="/Users/dengxu/2026年秋季比赛项目/xylem-water-quality/presentation/assets/public-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28800"/>
            <a:ext cx="7635240" cy="4773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0" y="1828800"/>
            <a:ext cx="3127248" cy="1298448"/>
          </a:xfrm>
          <a:prstGeom prst="roundRect">
            <a:avLst>
              <a:gd name="adj" fmla="val 4225"/>
            </a:avLst>
          </a:prstGeom>
          <a:solidFill>
            <a:srgbClr val="FCEAEC"/>
          </a:solidFill>
          <a:ln w="12700">
            <a:solidFill>
              <a:srgbClr val="FCEA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03920" y="1828800"/>
            <a:ext cx="64008" cy="1298448"/>
          </a:xfrm>
          <a:prstGeom prst="rect">
            <a:avLst/>
          </a:prstGeom>
          <a:solidFill>
            <a:srgbClr val="B72D3C"/>
          </a:solidFill>
          <a:ln w="12700">
            <a:solidFill>
              <a:srgbClr val="B72D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59952" y="2057400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D24"/>
                </a:solidFill>
              </a:rPr>
              <a:t>1. Prioritize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759952" y="254203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9727E"/>
                </a:solidFill>
              </a:rPr>
              <a:t>Stable event IDs and severity-aware ordering.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503920" y="3355848"/>
            <a:ext cx="3127248" cy="1298448"/>
          </a:xfrm>
          <a:prstGeom prst="roundRect">
            <a:avLst>
              <a:gd name="adj" fmla="val 4225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03920" y="3355848"/>
            <a:ext cx="64008" cy="1298448"/>
          </a:xfrm>
          <a:prstGeom prst="rect">
            <a:avLst/>
          </a:prstGeom>
          <a:solidFill>
            <a:srgbClr val="316EA4"/>
          </a:solidFill>
          <a:ln w="12700">
            <a:solidFill>
              <a:srgbClr val="316EA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59952" y="3584448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D24"/>
                </a:solidFill>
              </a:rPr>
              <a:t>2. Explain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759952" y="4069080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9727E"/>
                </a:solidFill>
              </a:rPr>
              <a:t>Four-sensor timeline plus structured evidence.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503920" y="4882896"/>
            <a:ext cx="3127248" cy="1298448"/>
          </a:xfrm>
          <a:prstGeom prst="roundRect">
            <a:avLst>
              <a:gd name="adj" fmla="val 4225"/>
            </a:avLst>
          </a:prstGeom>
          <a:solidFill>
            <a:srgbClr val="E5F4EE"/>
          </a:solidFill>
          <a:ln w="12700">
            <a:solidFill>
              <a:srgbClr val="E5F4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03920" y="4882896"/>
            <a:ext cx="64008" cy="1298448"/>
          </a:xfrm>
          <a:prstGeom prst="rect">
            <a:avLst/>
          </a:prstGeom>
          <a:solidFill>
            <a:srgbClr val="0A8A61"/>
          </a:solidFill>
          <a:ln w="12700">
            <a:solidFill>
              <a:srgbClr val="0A8A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59952" y="5111496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D24"/>
                </a:solidFill>
              </a:rPr>
              <a:t>3. Verify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759952" y="5596128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9727E"/>
                </a:solidFill>
              </a:rPr>
              <a:t>Retest, calibrate, inspect the link, or escalate.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881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87B78"/>
                </a:solidFill>
              </a:rPr>
              <a:t>SCENARIO PROOF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D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workflow changes when the evidence changes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80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27E"/>
                </a:solidFill>
              </a:rPr>
              <a:t>Synthetic scenarios are explicitly labelled and test product behavior, not real-world accuracy.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9496" y="1847088"/>
            <a:ext cx="3456432" cy="2185416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25400" dist="50800" dir="2700000">
              <a:srgbClr val="A7AFB8">
                <a:alpha val="20000"/>
              </a:srgbClr>
            </a:outerShdw>
          </a:effectLst>
        </p:spPr>
      </p:sp>
      <p:pic>
        <p:nvPicPr>
          <p:cNvPr id="6" name="Image 0" descr="/Users/dengxu/2026年秋季比赛项目/xylem-water-quality/presentation/assets/correlated-sh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3401568" cy="21305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4224528"/>
            <a:ext cx="3401568" cy="1463040"/>
          </a:xfrm>
          <a:prstGeom prst="roundRect">
            <a:avLst>
              <a:gd name="adj" fmla="val 3125"/>
            </a:avLst>
          </a:prstGeom>
          <a:solidFill>
            <a:srgbClr val="E5F4EE"/>
          </a:solidFill>
          <a:ln w="12700">
            <a:solidFill>
              <a:srgbClr val="E5F4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4480560"/>
            <a:ext cx="164592" cy="164592"/>
          </a:xfrm>
          <a:prstGeom prst="ellipse">
            <a:avLst/>
          </a:prstGeom>
          <a:solidFill>
            <a:srgbClr val="0A8A61"/>
          </a:solidFill>
          <a:ln w="12700">
            <a:solidFill>
              <a:srgbClr val="0A8A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441655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D24"/>
                </a:solidFill>
              </a:rPr>
              <a:t>Possible water-quality event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42416" y="4882896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27E"/>
                </a:solidFill>
              </a:rPr>
              <a:t>Multiple reliable sensors move together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06824" y="1847088"/>
            <a:ext cx="3456432" cy="2185416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25400" dist="50800" dir="2700000">
              <a:srgbClr val="A7AFB8">
                <a:alpha val="20000"/>
              </a:srgbClr>
            </a:outerShdw>
          </a:effectLst>
        </p:spPr>
      </p:sp>
      <p:pic>
        <p:nvPicPr>
          <p:cNvPr id="12" name="Image 1" descr="/Users/dengxu/2026年秋季比赛项目/xylem-water-quality/presentation/assets/single-dri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874520"/>
            <a:ext cx="3401568" cy="213055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34256" y="4224528"/>
            <a:ext cx="3401568" cy="1463040"/>
          </a:xfrm>
          <a:prstGeom prst="roundRect">
            <a:avLst>
              <a:gd name="adj" fmla="val 3125"/>
            </a:avLst>
          </a:prstGeom>
          <a:solidFill>
            <a:srgbClr val="FFF2DE"/>
          </a:solidFill>
          <a:ln w="12700">
            <a:solidFill>
              <a:srgbClr val="FFF2D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44568" y="4480560"/>
            <a:ext cx="164592" cy="164592"/>
          </a:xfrm>
          <a:prstGeom prst="ellipse">
            <a:avLst/>
          </a:prstGeom>
          <a:solidFill>
            <a:srgbClr val="D28A22"/>
          </a:solidFill>
          <a:ln w="12700">
            <a:solidFill>
              <a:srgbClr val="D28A2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09744" y="441655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D24"/>
                </a:solidFill>
              </a:rPr>
              <a:t>Sensor fault or drift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809744" y="4882896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27E"/>
                </a:solidFill>
              </a:rPr>
              <a:t>One sensor changes while reliability falls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074152" y="1847088"/>
            <a:ext cx="3456432" cy="2185416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25400" dist="50800" dir="2700000">
              <a:srgbClr val="A7AFB8">
                <a:alpha val="20000"/>
              </a:srgbClr>
            </a:outerShdw>
          </a:effectLst>
        </p:spPr>
      </p:sp>
      <p:pic>
        <p:nvPicPr>
          <p:cNvPr id="18" name="Image 2" descr="/Users/dengxu/2026年秋季比赛项目/xylem-water-quality/presentation/assets/missing-interv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1874520"/>
            <a:ext cx="3401568" cy="213055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101584" y="4224528"/>
            <a:ext cx="3401568" cy="1463040"/>
          </a:xfrm>
          <a:prstGeom prst="roundRect">
            <a:avLst>
              <a:gd name="adj" fmla="val 3125"/>
            </a:avLst>
          </a:prstGeom>
          <a:solidFill>
            <a:srgbClr val="FCEAEC"/>
          </a:solidFill>
          <a:ln w="12700">
            <a:solidFill>
              <a:srgbClr val="FCEA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311896" y="4480560"/>
            <a:ext cx="164592" cy="164592"/>
          </a:xfrm>
          <a:prstGeom prst="ellipse">
            <a:avLst/>
          </a:prstGeom>
          <a:solidFill>
            <a:srgbClr val="B72D3C"/>
          </a:solidFill>
          <a:ln w="12700">
            <a:solidFill>
              <a:srgbClr val="B72D3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577072" y="441655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D24"/>
                </a:solidFill>
              </a:rPr>
              <a:t>Data-integrity issue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577072" y="4882896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27E"/>
                </a:solidFill>
              </a:rPr>
              <a:t>Missing timestamps take priority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881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2D0C7"/>
                </a:solidFill>
              </a:rPr>
              <a:t>EVALUATION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kept the simpler model because the evidence said 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350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2"/>
                </a:solidFill>
              </a:rPr>
              <a:t>Validation on technician-labelled sensor data-quality events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6903720" cy="3246120"/>
          </a:xfrm>
          <a:prstGeom prst="roundRect">
            <a:avLst>
              <a:gd name="adj" fmla="val 1408"/>
            </a:avLst>
          </a:prstGeom>
          <a:solidFill>
            <a:srgbClr val="242B34"/>
          </a:solidFill>
          <a:ln w="12700">
            <a:solidFill>
              <a:srgbClr val="394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7627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EB7C2"/>
                </a:solidFill>
              </a:rPr>
              <a:t>Model and split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419856" y="217627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EB7C2"/>
                </a:solidFill>
              </a:rPr>
              <a:t>Recall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15968" y="21762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EB7C2"/>
                </a:solidFill>
              </a:rPr>
              <a:t>Precision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85232" y="217627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EB7C2"/>
                </a:solidFill>
              </a:rPr>
              <a:t>Invalid/day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91072" y="217627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EB7C2"/>
                </a:solidFill>
              </a:rPr>
              <a:t>Decision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6883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Rules / validation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19856" y="268833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1.000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5968" y="2688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0.0135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85232" y="268833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7.30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91072" y="268833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2D0C7"/>
                </a:solidFill>
              </a:rPr>
              <a:t>Selected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3127248"/>
            <a:ext cx="6291072" cy="0"/>
          </a:xfrm>
          <a:prstGeom prst="line">
            <a:avLst/>
          </a:prstGeom>
          <a:noFill/>
          <a:ln w="8890">
            <a:solidFill>
              <a:srgbClr val="3942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3467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ARIMA / validation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19856" y="334670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0.800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15968" y="33467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0.0111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85232" y="334670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7.14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91072" y="334670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1B46C"/>
                </a:solidFill>
              </a:rPr>
              <a:t>Rejected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" y="3785616"/>
            <a:ext cx="6291072" cy="0"/>
          </a:xfrm>
          <a:prstGeom prst="line">
            <a:avLst/>
          </a:prstGeom>
          <a:noFill/>
          <a:ln w="8890">
            <a:solidFill>
              <a:srgbClr val="3942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005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Rules / frozen test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19856" y="400507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0.7368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15968" y="40050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0.0426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85232" y="400507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8.2895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91072" y="40050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EB7C2"/>
                </a:solidFill>
              </a:rPr>
              <a:t>Held out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0100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B46C"/>
                </a:solidFill>
              </a:rPr>
              <a:t>7.30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8001000" y="2468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7C2"/>
                </a:solidFill>
              </a:rPr>
              <a:t>invalid alerts / day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EB7C2"/>
                </a:solidFill>
              </a:rPr>
              <a:t>on validation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802368" y="1965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2D0C7"/>
                </a:solidFill>
              </a:rPr>
              <a:t>93.50%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9802368" y="2468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7C2"/>
                </a:solidFill>
              </a:rPr>
              <a:t>package test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EB7C2"/>
                </a:solidFill>
              </a:rPr>
              <a:t>coverage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973568" y="3429000"/>
            <a:ext cx="3611880" cy="1691640"/>
          </a:xfrm>
          <a:prstGeom prst="roundRect">
            <a:avLst>
              <a:gd name="adj" fmla="val 2703"/>
            </a:avLst>
          </a:prstGeom>
          <a:solidFill>
            <a:srgbClr val="39272C"/>
          </a:solidFill>
          <a:ln w="12700">
            <a:solidFill>
              <a:srgbClr val="6B33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70332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AC3"/>
                </a:solidFill>
              </a:rPr>
              <a:t>The limitation is part of the result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57032" y="4160520"/>
            <a:ext cx="2999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Low precision and high alert burden make this unsuitable for unattended deployment.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" y="57150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7C2"/>
                </a:solidFill>
              </a:rPr>
              <a:t>311 automated tests  |  3 browser flows  |  3 target viewports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87B78"/>
                </a:solidFill>
              </a:rPr>
              <a:t>RESPONSIBLE PATH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D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support today. Field evidence next.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80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27E"/>
                </a:solidFill>
              </a:rPr>
              <a:t>The prototype organizes evidence; it does not certify water safety or replace independent testing.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493008" cy="3474720"/>
          </a:xfrm>
          <a:prstGeom prst="roundRect">
            <a:avLst>
              <a:gd name="adj" fmla="val 1579"/>
            </a:avLst>
          </a:prstGeom>
          <a:solidFill>
            <a:srgbClr val="E5F4EE"/>
          </a:solidFill>
          <a:ln w="12700">
            <a:solidFill>
              <a:srgbClr val="E5F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74520"/>
            <a:ext cx="64008" cy="3474720"/>
          </a:xfrm>
          <a:prstGeom prst="rect">
            <a:avLst/>
          </a:prstGeom>
          <a:solidFill>
            <a:srgbClr val="0A8A61"/>
          </a:solidFill>
          <a:ln w="12700">
            <a:solidFill>
              <a:srgbClr val="0A8A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D24"/>
                </a:solidFill>
              </a:rPr>
              <a:t>What it does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87752"/>
            <a:ext cx="303580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9727E"/>
                </a:solidFill>
              </a:rPr>
              <a:t>Prioritizes sensor events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27E"/>
                </a:solidFill>
              </a:rPr>
              <a:t>Preserves evidence and limitations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27E"/>
                </a:solidFill>
              </a:rPr>
              <a:t>Makes the next human action explicit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27E"/>
                </a:solidFill>
              </a:rPr>
              <a:t>Keeps synthetic scenarios clearly labelled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1874520"/>
            <a:ext cx="3493008" cy="3474720"/>
          </a:xfrm>
          <a:prstGeom prst="roundRect">
            <a:avLst>
              <a:gd name="adj" fmla="val 1579"/>
            </a:avLst>
          </a:prstGeom>
          <a:solidFill>
            <a:srgbClr val="FCEAEC"/>
          </a:solidFill>
          <a:ln w="12700">
            <a:solidFill>
              <a:srgbClr val="FCEA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52544" y="1874520"/>
            <a:ext cx="64008" cy="3474720"/>
          </a:xfrm>
          <a:prstGeom prst="rect">
            <a:avLst/>
          </a:prstGeom>
          <a:solidFill>
            <a:srgbClr val="B72D3C"/>
          </a:solidFill>
          <a:ln w="12700">
            <a:solidFill>
              <a:srgbClr val="B72D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2103120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D24"/>
                </a:solidFill>
              </a:rPr>
              <a:t>What it does not 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08576" y="2587752"/>
            <a:ext cx="303580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9727E"/>
                </a:solidFill>
              </a:rPr>
              <a:t>Confirm contamination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27E"/>
                </a:solidFill>
              </a:rPr>
              <a:t>Declare water safe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27E"/>
                </a:solidFill>
              </a:rPr>
              <a:t>Replace field or laboratory tests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27E"/>
                </a:solidFill>
              </a:rPr>
              <a:t>Operate unattended at the current alert rate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874520"/>
            <a:ext cx="3493008" cy="3474720"/>
          </a:xfrm>
          <a:prstGeom prst="roundRect">
            <a:avLst>
              <a:gd name="adj" fmla="val 1579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874520"/>
            <a:ext cx="64008" cy="3474720"/>
          </a:xfrm>
          <a:prstGeom prst="rect">
            <a:avLst/>
          </a:prstGeom>
          <a:solidFill>
            <a:srgbClr val="087B78"/>
          </a:solidFill>
          <a:ln w="12700">
            <a:solidFill>
              <a:srgbClr val="087B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2103120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D24"/>
                </a:solidFill>
              </a:rPr>
              <a:t>Next field pilot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2587752"/>
            <a:ext cx="303580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9727E"/>
                </a:solidFill>
              </a:rPr>
              <a:t>Add maintenance and calibration records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27E"/>
                </a:solidFill>
              </a:rPr>
              <a:t>Pair alerts with independent samples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27E"/>
                </a:solidFill>
              </a:rPr>
              <a:t>Measure avoidable escalations and response time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9727E"/>
                </a:solidFill>
              </a:rPr>
              <a:t>Tune only on pilot evidence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5650992"/>
            <a:ext cx="11064240" cy="566928"/>
          </a:xfrm>
          <a:prstGeom prst="roundRect">
            <a:avLst>
              <a:gd name="adj" fmla="val 6452"/>
            </a:avLst>
          </a:prstGeom>
          <a:solidFill>
            <a:srgbClr val="191D24"/>
          </a:solidFill>
          <a:ln w="12700">
            <a:solidFill>
              <a:srgbClr val="191D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8155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D0C7"/>
                </a:solidFill>
              </a:rPr>
              <a:t>github.com/Cedric-uxb/clearsignal-wq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5815584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Public code, data provenance, evaluation, and reproducible tests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881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ClearSignal WQ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ClearSignal WQ - Evidence before escalation</dc:title>
  <dc:subject>Xylem Global Student Innovation Challenge 2026</dc:subject>
  <dc:creator>Qizhong Deng</dc:creator>
  <cp:lastModifiedBy>Qizhong Deng</cp:lastModifiedBy>
  <cp:revision>1</cp:revision>
  <dcterms:created xsi:type="dcterms:W3CDTF">2026-10-22T23:16:42Z</dcterms:created>
  <dcterms:modified xsi:type="dcterms:W3CDTF">2026-10-22T23:16:42Z</dcterms:modified>
</cp:coreProperties>
</file>